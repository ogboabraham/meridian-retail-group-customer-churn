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Reducing Customer Churn</a:t>
            </a:r>
          </a:p>
          <a:p>
            <a:pPr algn="ctr">
              <a:defRPr sz="3200"/>
            </a:pPr>
            <a:r>
              <a:t>at Meridian Retail Group</a:t>
            </a:r>
          </a:p>
          <a:p>
            <a:pPr algn="ctr">
              <a:defRPr sz="2200"/>
            </a:pPr>
            <a:r>
              <a:t>An End-to-End Data Science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Data Preparation • EDA • Machine Learning • Explainability •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Meridian Retail Group wants to understand why customers stop purchasing.</a:t>
            </a:r>
          </a:p>
          <a:p>
            <a:pPr>
              <a:spcAft>
                <a:spcPts val="1200"/>
              </a:spcAft>
              <a:defRPr sz="2000"/>
            </a:pPr>
            <a:r>
              <a:t>Management has observed lower repeat-purchase activity and customer-support interactions.</a:t>
            </a:r>
          </a:p>
          <a:p>
            <a:pPr>
              <a:spcAft>
                <a:spcPts val="1200"/>
              </a:spcAft>
              <a:defRPr sz="2000"/>
            </a:pPr>
            <a:r>
              <a:t>The business needs a data-driven approach for identifying churn patterns.</a:t>
            </a:r>
          </a:p>
          <a:p>
            <a:pPr>
              <a:spcAft>
                <a:spcPts val="1200"/>
              </a:spcAft>
              <a:defRPr sz="2000"/>
            </a:pPr>
            <a:r>
              <a:t>The project focuses on customer behavior, purchasing activity and support experiences.</a:t>
            </a:r>
          </a:p>
          <a:p>
            <a:pPr>
              <a:spcAft>
                <a:spcPts val="1200"/>
              </a:spcAft>
              <a:defRPr sz="2000"/>
            </a:pPr>
            <a:r>
              <a:t>The ultimate goal is to support more targeted customer-retention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Define customer churn using a clear and reproducible business rule.</a:t>
            </a:r>
          </a:p>
          <a:p>
            <a:pPr>
              <a:spcAft>
                <a:spcPts val="1200"/>
              </a:spcAft>
              <a:defRPr sz="2000"/>
            </a:pPr>
            <a:r>
              <a:t>Clean and prepare customer, product, order, order-item and support-ticket data.</a:t>
            </a:r>
          </a:p>
          <a:p>
            <a:pPr>
              <a:spcAft>
                <a:spcPts val="1200"/>
              </a:spcAft>
              <a:defRPr sz="2000"/>
            </a:pPr>
            <a:r>
              <a:t>Explore factors associated with customer churn.</a:t>
            </a:r>
          </a:p>
          <a:p>
            <a:pPr>
              <a:spcAft>
                <a:spcPts val="1200"/>
              </a:spcAft>
              <a:defRPr sz="2000"/>
            </a:pPr>
            <a:r>
              <a:t>Build and compare multiple machine-learning classification models.</a:t>
            </a:r>
          </a:p>
          <a:p>
            <a:pPr>
              <a:spcAft>
                <a:spcPts val="1200"/>
              </a:spcAft>
              <a:defRPr sz="2000"/>
            </a:pPr>
            <a:r>
              <a:t>Interpret model predictions using feature importance and SHAP.</a:t>
            </a:r>
          </a:p>
          <a:p>
            <a:pPr>
              <a:spcAft>
                <a:spcPts val="1200"/>
              </a:spcAft>
              <a:defRPr sz="2000"/>
            </a:pPr>
            <a:r>
              <a:t>Deploy the final model through a FastAPI prediction endpoint.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Customers: 6,090 records</a:t>
            </a:r>
          </a:p>
          <a:p>
            <a:pPr>
              <a:spcAft>
                <a:spcPts val="1200"/>
              </a:spcAft>
              <a:defRPr sz="2000"/>
            </a:pPr>
            <a:r>
              <a:t>Products: 220 records</a:t>
            </a:r>
          </a:p>
          <a:p>
            <a:pPr>
              <a:spcAft>
                <a:spcPts val="1200"/>
              </a:spcAft>
              <a:defRPr sz="2000"/>
            </a:pPr>
            <a:r>
              <a:t>Orders: 28,297 raw records</a:t>
            </a:r>
          </a:p>
          <a:p>
            <a:pPr>
              <a:spcAft>
                <a:spcPts val="1200"/>
              </a:spcAft>
              <a:defRPr sz="2000"/>
            </a:pPr>
            <a:r>
              <a:t>Order Items: 73,505 raw records</a:t>
            </a:r>
          </a:p>
          <a:p>
            <a:pPr>
              <a:spcAft>
                <a:spcPts val="1200"/>
              </a:spcAft>
              <a:defRPr sz="2000"/>
            </a:pPr>
            <a:r>
              <a:t>Support Tickets: 5,200 records</a:t>
            </a:r>
          </a:p>
          <a:p>
            <a:pPr>
              <a:spcAft>
                <a:spcPts val="1200"/>
              </a:spcAft>
              <a:defRPr sz="2000"/>
            </a:pPr>
            <a:r>
              <a:t>Data covers customer demographics, purchasing behavior, products and support interactions.</a:t>
            </a:r>
          </a:p>
          <a:p>
            <a:pPr>
              <a:spcAft>
                <a:spcPts val="1200"/>
              </a:spcAft>
              <a:defRPr sz="2000"/>
            </a:pPr>
            <a:r>
              <a:t>Cleaned datasets were created separately from the original processed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Quality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Invalid customer dates of birth were identified and converted to missing values.</a:t>
            </a:r>
          </a:p>
          <a:p>
            <a:pPr>
              <a:spcAft>
                <a:spcPts val="1200"/>
              </a:spcAft>
              <a:defRPr sz="2000"/>
            </a:pPr>
            <a:r>
              <a:t>Missing values were investigated rather than automatically replacing every missing value.</a:t>
            </a:r>
          </a:p>
          <a:p>
            <a:pPr>
              <a:spcAft>
                <a:spcPts val="1200"/>
              </a:spcAft>
              <a:defRPr sz="2000"/>
            </a:pPr>
            <a:r>
              <a:t>Exact duplicate orders and order-item records were identified and removed.</a:t>
            </a:r>
          </a:p>
          <a:p>
            <a:pPr>
              <a:spcAft>
                <a:spcPts val="1200"/>
              </a:spcAft>
              <a:defRPr sz="2000"/>
            </a:pPr>
            <a:r>
              <a:t>Negative order-item quantities were investigated as potentially invalid transactions.</a:t>
            </a:r>
          </a:p>
          <a:p>
            <a:pPr>
              <a:spcAft>
                <a:spcPts val="1200"/>
              </a:spcAft>
              <a:defRPr sz="2000"/>
            </a:pPr>
            <a:r>
              <a:t>Discount values were reviewed against the observed business range.</a:t>
            </a:r>
          </a:p>
          <a:p>
            <a:pPr>
              <a:spcAft>
                <a:spcPts val="1200"/>
              </a:spcAft>
              <a:defRPr sz="2000"/>
            </a:pPr>
            <a:r>
              <a:t>Support-ticket dates, satisfaction scores and resolution times were validated.</a:t>
            </a:r>
          </a:p>
          <a:p>
            <a:pPr>
              <a:spcAft>
                <a:spcPts val="1200"/>
              </a:spcAft>
              <a:defRPr sz="2000"/>
            </a:pPr>
            <a:r>
              <a:t>Scaling was intentionally deferred until the machine-learning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Churn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Churn was defined using a 180-day customer inactivity rule.</a:t>
            </a:r>
          </a:p>
          <a:p>
            <a:pPr>
              <a:spcAft>
                <a:spcPts val="1200"/>
              </a:spcAft>
              <a:defRPr sz="2000"/>
            </a:pPr>
            <a:r>
              <a:t>Customers without a completed order during the relevant 180-day period were classified as Churned.</a:t>
            </a:r>
          </a:p>
          <a:p>
            <a:pPr>
              <a:spcAft>
                <a:spcPts val="1200"/>
              </a:spcAft>
              <a:defRPr sz="2000"/>
            </a:pPr>
            <a:r>
              <a:t>Customers with qualifying recent completed orders were classified as Active.</a:t>
            </a:r>
          </a:p>
          <a:p>
            <a:pPr>
              <a:spcAft>
                <a:spcPts val="1200"/>
              </a:spcAft>
              <a:defRPr sz="2000"/>
            </a:pPr>
            <a:r>
              <a:t>Churned customers: 4,072</a:t>
            </a:r>
          </a:p>
          <a:p>
            <a:pPr>
              <a:spcAft>
                <a:spcPts val="1200"/>
              </a:spcAft>
              <a:defRPr sz="2000"/>
            </a:pPr>
            <a:r>
              <a:t>Active customers: 2,018</a:t>
            </a:r>
          </a:p>
          <a:p>
            <a:pPr>
              <a:spcAft>
                <a:spcPts val="1200"/>
              </a:spcAft>
              <a:defRPr sz="2000"/>
            </a:pPr>
            <a:r>
              <a:t>Numeric target: 1 = Churned, 0 = Active</a:t>
            </a:r>
          </a:p>
          <a:p>
            <a:pPr>
              <a:spcAft>
                <a:spcPts val="1200"/>
              </a:spcAft>
              <a:defRPr sz="2000"/>
            </a:pPr>
            <a:r>
              <a:t>Recency_Days was excluded from machine learning because it directly reflects the churn definition.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Key 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Churned customers showed substantially higher recency than active customers.</a:t>
            </a:r>
          </a:p>
          <a:p>
            <a:pPr>
              <a:spcAft>
                <a:spcPts val="1200"/>
              </a:spcAft>
              <a:defRPr sz="2000"/>
            </a:pPr>
            <a:r>
              <a:t>Purchasing frequency differed between active and churned customers.</a:t>
            </a:r>
          </a:p>
          <a:p>
            <a:pPr>
              <a:spcAft>
                <a:spcPts val="1200"/>
              </a:spcAft>
              <a:defRPr sz="2000"/>
            </a:pPr>
            <a:r>
              <a:t>Monetary purchasing behavior also differed between the two customer groups.</a:t>
            </a:r>
          </a:p>
          <a:p>
            <a:pPr>
              <a:spcAft>
                <a:spcPts val="1200"/>
              </a:spcAft>
              <a:defRPr sz="2000"/>
            </a:pPr>
            <a:r>
              <a:t>Higher support-ticket frequency was associated with higher observed churn rates.</a:t>
            </a:r>
          </a:p>
          <a:p>
            <a:pPr>
              <a:spcAft>
                <a:spcPts val="1200"/>
              </a:spcAft>
              <a:defRPr sz="2000"/>
            </a:pPr>
            <a:r>
              <a:t>Support-resolution time provided an additional customer-experience signal.</a:t>
            </a:r>
          </a:p>
          <a:p>
            <a:pPr>
              <a:spcAft>
                <a:spcPts val="1200"/>
              </a:spcAft>
              <a:defRPr sz="2000"/>
            </a:pPr>
            <a:r>
              <a:t>The strongest exploratory relationship with churn was observed for Recency_Days.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Important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Overall churn distribution showed the size of the churned and active customer groups.</a:t>
            </a:r>
          </a:p>
          <a:p>
            <a:pPr>
              <a:spcAft>
                <a:spcPts val="1200"/>
              </a:spcAft>
              <a:defRPr sz="2000"/>
            </a:pPr>
            <a:r>
              <a:t>Churn by membership tier highlighted differences across customer segments.</a:t>
            </a:r>
          </a:p>
          <a:p>
            <a:pPr>
              <a:spcAft>
                <a:spcPts val="1200"/>
              </a:spcAft>
              <a:defRPr sz="2000"/>
            </a:pPr>
            <a:r>
              <a:t>Recency analysis illustrated the 180-day churn threshold.</a:t>
            </a:r>
          </a:p>
          <a:p>
            <a:pPr>
              <a:spcAft>
                <a:spcPts val="1200"/>
              </a:spcAft>
              <a:defRPr sz="2000"/>
            </a:pPr>
            <a:r>
              <a:t>Frequency and monetary-value plots compared purchasing behavior across churn groups.</a:t>
            </a:r>
          </a:p>
          <a:p>
            <a:pPr>
              <a:spcAft>
                <a:spcPts val="1200"/>
              </a:spcAft>
              <a:defRPr sz="2000"/>
            </a:pPr>
            <a:r>
              <a:t>Support-ticket charts examined customer-service behavior.</a:t>
            </a:r>
          </a:p>
          <a:p>
            <a:pPr>
              <a:spcAft>
                <a:spcPts val="1200"/>
              </a:spcAft>
              <a:defRPr sz="2000"/>
            </a:pPr>
            <a:r>
              <a:t>Correlation analysis identified relationships between numerical variables and churn.</a:t>
            </a:r>
          </a:p>
          <a:p>
            <a:pPr>
              <a:spcAft>
                <a:spcPts val="1200"/>
              </a:spcAft>
              <a:defRPr sz="2000"/>
            </a:pPr>
            <a:r>
              <a:t>Interactive Plotly visuals were also created for deeper exploration.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Machine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Target: Churn</a:t>
            </a:r>
          </a:p>
          <a:p>
            <a:pPr>
              <a:spcAft>
                <a:spcPts val="1200"/>
              </a:spcAft>
              <a:defRPr sz="2000"/>
            </a:pPr>
            <a:r>
              <a:t>Categorical features were encoded through the preprocessing pipeline.</a:t>
            </a:r>
          </a:p>
          <a:p>
            <a:pPr>
              <a:spcAft>
                <a:spcPts val="1200"/>
              </a:spcAft>
              <a:defRPr sz="2000"/>
            </a:pPr>
            <a:r>
              <a:t>Numerical features were prepared for modelling.</a:t>
            </a:r>
          </a:p>
          <a:p>
            <a:pPr>
              <a:spcAft>
                <a:spcPts val="1200"/>
              </a:spcAft>
              <a:defRPr sz="2000"/>
            </a:pPr>
            <a:r>
              <a:t>Train/test splitting used a fixed random seed for reproducibility.</a:t>
            </a:r>
          </a:p>
          <a:p>
            <a:pPr>
              <a:spcAft>
                <a:spcPts val="1200"/>
              </a:spcAft>
              <a:defRPr sz="2000"/>
            </a:pPr>
            <a:r>
              <a:t>Class imbalance was addressed during modelling.</a:t>
            </a:r>
          </a:p>
          <a:p>
            <a:pPr>
              <a:spcAft>
                <a:spcPts val="1200"/>
              </a:spcAft>
              <a:defRPr sz="2000"/>
            </a:pPr>
            <a:r>
              <a:t>Multiple classification algorithms were compared.</a:t>
            </a:r>
          </a:p>
          <a:p>
            <a:pPr>
              <a:spcAft>
                <a:spcPts val="1200"/>
              </a:spcAft>
              <a:defRPr sz="2000"/>
            </a:pPr>
            <a:r>
              <a:t>Hyperparameter tuning was performed using GridSearchCV.</a:t>
            </a:r>
          </a:p>
          <a:p>
            <a:pPr>
              <a:spcAft>
                <a:spcPts val="1200"/>
              </a:spcAft>
              <a:defRPr sz="2000"/>
            </a:pPr>
            <a:r>
              <a:t>Recency_Days was excluded to reduce target leakage.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Models evaluated included Logistic Regression, Decision Tree, Random Forest, Gradient Boosting, Neural Network and ensemble approaches.</a:t>
            </a:r>
          </a:p>
          <a:p>
            <a:pPr>
              <a:spcAft>
                <a:spcPts val="1200"/>
              </a:spcAft>
              <a:defRPr sz="2000"/>
            </a:pPr>
            <a:r>
              <a:t>Evaluation considered accuracy, class-specific precision and recall, F1, balanced accuracy and ROC-AUC.</a:t>
            </a:r>
          </a:p>
          <a:p>
            <a:pPr>
              <a:spcAft>
                <a:spcPts val="1200"/>
              </a:spcAft>
              <a:defRPr sz="2000"/>
            </a:pPr>
            <a:r>
              <a:t>The baseline achieved high churn recall by classifying every test customer as churned.</a:t>
            </a:r>
          </a:p>
          <a:p>
            <a:pPr>
              <a:spcAft>
                <a:spcPts val="1200"/>
              </a:spcAft>
              <a:defRPr sz="2000"/>
            </a:pPr>
            <a:r>
              <a:t>This demonstrated why accuracy and recall should not be interpreted in isolation.</a:t>
            </a:r>
          </a:p>
          <a:p>
            <a:pPr>
              <a:spcAft>
                <a:spcPts val="1200"/>
              </a:spcAft>
              <a:defRPr sz="2000"/>
            </a:pPr>
            <a:r>
              <a:t>Macro F1 was used as the main selection criterion because it considers performance across both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Final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Final model: Tuned Random Forest</a:t>
            </a:r>
          </a:p>
          <a:p>
            <a:pPr>
              <a:spcAft>
                <a:spcPts val="1200"/>
              </a:spcAft>
              <a:defRPr sz="2000"/>
            </a:pPr>
            <a:r>
              <a:t>max_depth = 10</a:t>
            </a:r>
          </a:p>
          <a:p>
            <a:pPr>
              <a:spcAft>
                <a:spcPts val="1200"/>
              </a:spcAft>
              <a:defRPr sz="2000"/>
            </a:pPr>
            <a:r>
              <a:t>min_samples_leaf = 5</a:t>
            </a:r>
          </a:p>
          <a:p>
            <a:pPr>
              <a:spcAft>
                <a:spcPts val="1200"/>
              </a:spcAft>
              <a:defRPr sz="2000"/>
            </a:pPr>
            <a:r>
              <a:t>n_estimators = 100</a:t>
            </a:r>
          </a:p>
          <a:p>
            <a:pPr>
              <a:spcAft>
                <a:spcPts val="1200"/>
              </a:spcAft>
              <a:defRPr sz="2000"/>
            </a:pPr>
            <a:r>
              <a:t>Best cross-validation score: 0.6279</a:t>
            </a:r>
          </a:p>
          <a:p>
            <a:pPr>
              <a:spcAft>
                <a:spcPts val="1200"/>
              </a:spcAft>
              <a:defRPr sz="2000"/>
            </a:pPr>
            <a:r>
              <a:t>Macro F1: 0.6234</a:t>
            </a:r>
          </a:p>
          <a:p>
            <a:pPr>
              <a:spcAft>
                <a:spcPts val="1200"/>
              </a:spcAft>
              <a:defRPr sz="2000"/>
            </a:pPr>
            <a:r>
              <a:t>ROC-AUC: 0.6649</a:t>
            </a:r>
          </a:p>
          <a:p>
            <a:pPr>
              <a:spcAft>
                <a:spcPts val="1200"/>
              </a:spcAft>
              <a:defRPr sz="2000"/>
            </a:pPr>
            <a:r>
              <a:t>The final model was saved as final_churn_model.joblib.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Important Model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Frequency was the most important feature in the final Random Forest.</a:t>
            </a:r>
          </a:p>
          <a:p>
            <a:pPr>
              <a:spcAft>
                <a:spcPts val="1200"/>
              </a:spcAft>
              <a:defRPr sz="2000"/>
            </a:pPr>
            <a:r>
              <a:t>Monetary_Total was the second major feature.</a:t>
            </a:r>
          </a:p>
          <a:p>
            <a:pPr>
              <a:spcAft>
                <a:spcPts val="1200"/>
              </a:spcAft>
              <a:defRPr sz="2000"/>
            </a:pPr>
            <a:r>
              <a:t>Monetary_Average was another important purchasing-behavior feature.</a:t>
            </a:r>
          </a:p>
          <a:p>
            <a:pPr>
              <a:spcAft>
                <a:spcPts val="1200"/>
              </a:spcAft>
              <a:defRPr sz="2000"/>
            </a:pPr>
            <a:r>
              <a:t>Average_Resolution_Time was the strongest secondary support-related feature.</a:t>
            </a:r>
          </a:p>
          <a:p>
            <a:pPr>
              <a:spcAft>
                <a:spcPts val="1200"/>
              </a:spcAft>
              <a:defRPr sz="2000"/>
            </a:pPr>
            <a:r>
              <a:t>Average_Satisfaction and Support_Ticket_Count contributed smaller individual amounts.</a:t>
            </a:r>
          </a:p>
          <a:p>
            <a:pPr>
              <a:spcAft>
                <a:spcPts val="1200"/>
              </a:spcAft>
              <a:defRPr sz="2000"/>
            </a:pPr>
            <a:r>
              <a:t>Overall, purchasing behavior contributed more strongly than individual categorical characteristics.</a:t>
            </a:r>
          </a:p>
          <a:p>
            <a:pPr>
              <a:spcAft>
                <a:spcPts val="1200"/>
              </a:spcAft>
              <a:defRPr sz="2000"/>
            </a:pPr>
            <a:r>
              <a:t>SHAP analysis was used to further explain model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Business 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Monitor declining customer purchase frequency.</a:t>
            </a:r>
          </a:p>
          <a:p>
            <a:pPr>
              <a:spcAft>
                <a:spcPts val="1200"/>
              </a:spcAft>
              <a:defRPr sz="2000"/>
            </a:pPr>
            <a:r>
              <a:t>Prioritize retention analysis using customer purchasing value and behavior.</a:t>
            </a:r>
          </a:p>
          <a:p>
            <a:pPr>
              <a:spcAft>
                <a:spcPts val="1200"/>
              </a:spcAft>
              <a:defRPr sz="2000"/>
            </a:pPr>
            <a:r>
              <a:t>Monitor customers experiencing longer support-resolution times.</a:t>
            </a:r>
          </a:p>
          <a:p>
            <a:pPr>
              <a:spcAft>
                <a:spcPts val="1200"/>
              </a:spcAft>
              <a:defRPr sz="2000"/>
            </a:pPr>
            <a:r>
              <a:t>Use churn predictions to prioritize retention activities rather than as automatic decisions.</a:t>
            </a:r>
          </a:p>
          <a:p>
            <a:pPr>
              <a:spcAft>
                <a:spcPts val="1200"/>
              </a:spcAft>
              <a:defRPr sz="2000"/>
            </a:pPr>
            <a:r>
              <a:t>Validate retention campaigns using measurable outcomes.</a:t>
            </a:r>
          </a:p>
          <a:p>
            <a:pPr>
              <a:spcAft>
                <a:spcPts val="1200"/>
              </a:spcAft>
              <a:defRPr sz="2000"/>
            </a:pPr>
            <a:r>
              <a:t>Limitation: historical churn labels may not perfectly represent future customer behavior.</a:t>
            </a:r>
          </a:p>
          <a:p>
            <a:pPr>
              <a:spcAft>
                <a:spcPts val="1200"/>
              </a:spcAft>
              <a:defRPr sz="2000"/>
            </a:pPr>
            <a:r>
              <a:t>Limitation: missing support-ticket satisfaction information may reduce predictive power.</a:t>
            </a:r>
          </a:p>
          <a:p>
            <a:pPr>
              <a:spcAft>
                <a:spcPts val="1200"/>
              </a:spcAft>
              <a:defRPr sz="2000"/>
            </a:pPr>
            <a:r>
              <a:t>Limitation: model associations should not be interpreted as proof of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Deployment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final model was saved as a reusable Joblib pipeline.</a:t>
            </a:r>
          </a:p>
          <a:p>
            <a:pPr>
              <a:spcAft>
                <a:spcPts val="1200"/>
              </a:spcAft>
              <a:defRPr sz="2000"/>
            </a:pPr>
            <a:r>
              <a:t>A FastAPI application was developed with POST /predict.</a:t>
            </a:r>
          </a:p>
          <a:p>
            <a:pPr>
              <a:spcAft>
                <a:spcPts val="1200"/>
              </a:spcAft>
              <a:defRPr sz="2000"/>
            </a:pPr>
            <a:r>
              <a:t>The API accepts customer information and returns a churn prediction and probability.</a:t>
            </a:r>
          </a:p>
          <a:p>
            <a:pPr>
              <a:spcAft>
                <a:spcPts val="1200"/>
              </a:spcAft>
              <a:defRPr sz="2000"/>
            </a:pPr>
            <a:r>
              <a:t>Input validation was tested using missing and invalid fields.</a:t>
            </a:r>
          </a:p>
          <a:p>
            <a:pPr>
              <a:spcAft>
                <a:spcPts val="1200"/>
              </a:spcAft>
              <a:defRPr sz="2000"/>
            </a:pPr>
            <a:r>
              <a:t>Example API test returned HTTP 200 with a churn prediction and probability.</a:t>
            </a:r>
          </a:p>
          <a:p>
            <a:pPr>
              <a:spcAft>
                <a:spcPts val="1200"/>
              </a:spcAft>
              <a:defRPr sz="2000"/>
            </a:pPr>
            <a:r>
              <a:t>The project provides an end-to-end framework for investigating and monitoring customer churn.</a:t>
            </a:r>
          </a:p>
          <a:p>
            <a:pPr>
              <a:spcAft>
                <a:spcPts val="1200"/>
              </a:spcAft>
              <a:defRPr sz="2000"/>
            </a:pPr>
            <a:r>
              <a:t>Future work should validate the model on new customer data and measure the financial impact of retention interventions.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Meridian Retail Group — Customer Churn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